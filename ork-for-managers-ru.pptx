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0"/>
            <a:ext cx="164592" cy="22860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Мульти-агентная оркестрация для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Calibri"/>
              </a:rPr>
              <a:t>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14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Платформа агентного AI: для технических руководителей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46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4B2A"/>
                </a:solidFill>
                <a:latin typeface="Calibri"/>
              </a:rPr>
              <a:t>A2A-first · MCP · Kong + Kafka · Rust 2024 · ADR-driven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217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Апрель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КОНТЕКСТ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Зачем enterprise-у платформа агентного AI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Агентный AI выходит из пилотов в production. У IT-руководителя появляется четыре одновременных требования к платформе: данные, безопасность, стоимость и скорость доставки.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Данные и заземление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Агенты должны видеть актуальные корпоративные данные (БД, API, события), иначе hallucinations превращаются в инциденты.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3172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5146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Безопасность и комплаенс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7180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SSO, RBAC, аудит, изоляция тенантов — без этого AI не пускают в продуктив.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434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526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Стоимость и предсказуемость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8348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Токены и compute растут нелинейно. Нужен контроль контекста, кэширование и выбор провайдера под задачу.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3434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526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Скорость pilot →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98348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Бизнес ждёт работающие сценарии за недели, а не кварталы. Нужны и no-code, и code-first контуры.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ОБЗОР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Что такое ork в одном слайде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ork — это open-платформа оркестрации множества AI-агентов на Rust 2024. Один общий протокол A2A, гибридный транспорт Kong + Kafka, MCP как единая шина инструментов и гексагональная архитектура с изолированной доменной логикой.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A2A-first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Все агенты — локальные и удалённые — говорят одним протоколом: cards, tasks, типизированные parts, streaming, cancel, push.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3172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5146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Гибридный транспорт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7180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Sync через Kong (HTTP/SSE). Async через Kafka. Нет проприетарного брокера, нет vendor lock-in на инфраструктурном уровне.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434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526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MCP как шина инструментов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8348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Внешние интеграции — стандартные MCP-серверы. Внутренние — нативные Rust-tools. Единый каталог, контролируемый scope.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3434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526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Гексагональная архитектура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98348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Доменная логика изолирована от транспорта и БД. Замена Postgres, Redis, Kafka — через порты, без переписывания ядра.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БИЗНЕС-КАРТА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Восемь enterprise-требований и как ork их закрывает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077"/>
                </a:solidFill>
                <a:latin typeface="Calibri"/>
              </a:rPr>
              <a:t>Каждое требование — отдельный слайд далее. ADR в скобках.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5740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57400"/>
            <a:ext cx="73152" cy="155448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402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Данные в реальном времени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517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Generic Gateways · MCP · Kafka (ADR 0010, 0013)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205740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2057400"/>
            <a:ext cx="73152" cy="155448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2402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Безопасность и комплаенс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6517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Tenant security · RBAC scopes (ADR 0020, 0021)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05740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057400"/>
            <a:ext cx="73152" cy="155448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2402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Vendor-агностичность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517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Multi-LLM каталог (ADR 0012)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05740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2057400"/>
            <a:ext cx="73152" cy="155448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22402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Стоимость и токены 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6517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Workflow engine · Dynamic embeds (ADR 0015, 0018)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74904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749040"/>
            <a:ext cx="73152" cy="155448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9319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Масштаб и устойчивость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3434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Kong + Kafka · параллельные DAG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0440" y="374904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20440" y="3749040"/>
            <a:ext cx="73152" cy="155448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39319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Observability и governance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43434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Workflow viewer · трассировка (ADR 0022)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74904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749040"/>
            <a:ext cx="73152" cy="155448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9319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Каналы доступа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3434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Slack · Teams · REST · WebUI (ADR 0013, 0017)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6840" y="374904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06840" y="3749040"/>
            <a:ext cx="73152" cy="155448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39319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Скорость экспериментов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43434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YAML-workflow · WebUI-чат (ADR 0017)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ТРЕБОВАНИЕ 1 · ДАННЫЕ В РЕАЛЬНОМ ВРЕМЕНИ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Заземление агентов на корпоративные данные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6077"/>
                </a:solidFill>
                <a:latin typeface="Calibri"/>
              </a:rPr>
              <a:t>Hallucinations возникают там, где агент работает на устаревшем или урезанном контексте. ork даёт три канала к живым данным.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03120"/>
            <a:ext cx="5455767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09728" cy="4023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86000"/>
            <a:ext cx="50442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Реализация в 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технический контур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50442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Generic Gateways (ADR 0013)</a:t>
            </a:r>
            <a:r>
              <a:rPr sz="1200">
                <a:solidFill>
                  <a:srgbClr val="0F172A"/>
                </a:solidFill>
                <a:latin typeface="Calibri"/>
              </a:rPr>
              <a:t> — REST, webhook, MCP-as-gateway, WebUI — единый адаптерный слой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MCP-инструменты (ADR 0010)</a:t>
            </a:r>
            <a:r>
              <a:rPr sz="1200">
                <a:solidFill>
                  <a:srgbClr val="0F172A"/>
                </a:solidFill>
                <a:latin typeface="Calibri"/>
              </a:rPr>
              <a:t> — БД, API, файловые системы как стандартные MCP-серверы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Kafka event mesh</a:t>
            </a:r>
            <a:r>
              <a:rPr sz="1200">
                <a:solidFill>
                  <a:srgbClr val="0F172A"/>
                </a:solidFill>
                <a:latin typeface="Calibri"/>
              </a:rPr>
              <a:t> — async-канал для событий и reactive-агентов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Postgres + Redis</a:t>
            </a:r>
            <a:r>
              <a:rPr sz="1200">
                <a:solidFill>
                  <a:srgbClr val="0F172A"/>
                </a:solidFill>
                <a:latin typeface="Calibri"/>
              </a:rPr>
              <a:t> — состояние и кэш через порты ork-persistence / ork-cache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5887" y="2103120"/>
            <a:ext cx="5455767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15887" y="2103120"/>
            <a:ext cx="109728" cy="402336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0207" y="2286000"/>
            <a:ext cx="50442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Бизнес-ценность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0207" y="269748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что получает enterprise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3017520"/>
            <a:ext cx="50442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Точность ответов ↑</a:t>
            </a:r>
            <a:r>
              <a:rPr sz="1200">
                <a:solidFill>
                  <a:srgbClr val="0F172A"/>
                </a:solidFill>
                <a:latin typeface="Calibri"/>
              </a:rPr>
              <a:t> — агент видит актуальные данные, а не снимок месячной давности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Снижение инцидентов</a:t>
            </a:r>
            <a:r>
              <a:rPr sz="1200">
                <a:solidFill>
                  <a:srgbClr val="0F172A"/>
                </a:solidFill>
                <a:latin typeface="Calibri"/>
              </a:rPr>
              <a:t> — меньше hallucinations — меньше ложных автоматических действий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Скорость интеграции</a:t>
            </a:r>
            <a:r>
              <a:rPr sz="1200">
                <a:solidFill>
                  <a:srgbClr val="0F172A"/>
                </a:solidFill>
                <a:latin typeface="Calibri"/>
              </a:rPr>
              <a:t> — новый источник = новый MCP-сервер, без правки ядра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Работа с legacy</a:t>
            </a:r>
            <a:r>
              <a:rPr sz="1200">
                <a:solidFill>
                  <a:srgbClr val="0F172A"/>
                </a:solidFill>
                <a:latin typeface="Calibri"/>
              </a:rPr>
              <a:t> — REST-gateway оборачивает любую внутреннюю систему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ТРЕБОВАНИЕ 2 · БЕЗОПАСНОСТЬ И КОМПЛАЕНС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Корпоративная безопасность как первый класс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6077"/>
                </a:solidFill>
                <a:latin typeface="Calibri"/>
              </a:rPr>
              <a:t>Безопасность не дорабатывается потом — она спроектирована в ADR 0020 (tenant) и 0021 (RBAC) и в самом A2A-протоколе.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03120"/>
            <a:ext cx="5455767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09728" cy="4023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86000"/>
            <a:ext cx="50442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Реализация в 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технический контур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50442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SSO / OAuth2</a:t>
            </a:r>
            <a:r>
              <a:rPr sz="1200">
                <a:solidFill>
                  <a:srgbClr val="0F172A"/>
                </a:solidFill>
                <a:latin typeface="Calibri"/>
              </a:rPr>
              <a:t> — интеграция с Azure AD, Okta и другими identity-провайдерами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RBAC scopes (ADR 0021)</a:t>
            </a:r>
            <a:r>
              <a:rPr sz="1200">
                <a:solidFill>
                  <a:srgbClr val="0F172A"/>
                </a:solidFill>
                <a:latin typeface="Calibri"/>
              </a:rPr>
              <a:t> — granular доступ для пользователей, агентов и токенов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Tenant isolation (ADR 0020)</a:t>
            </a:r>
            <a:r>
              <a:rPr sz="1200">
                <a:solidFill>
                  <a:srgbClr val="0F172A"/>
                </a:solidFill>
                <a:latin typeface="Calibri"/>
              </a:rPr>
              <a:t> — разделение данных, секретов и сетевого периметра по тенантам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Подписанные push-уведомления (ADR 0009)</a:t>
            </a:r>
            <a:r>
              <a:rPr sz="1200">
                <a:solidFill>
                  <a:srgbClr val="0F172A"/>
                </a:solidFill>
                <a:latin typeface="Calibri"/>
              </a:rPr>
              <a:t> — ES256 JWS + envelope-шифрование исходящих событий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5887" y="2103120"/>
            <a:ext cx="5455767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15887" y="2103120"/>
            <a:ext cx="109728" cy="402336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0207" y="2286000"/>
            <a:ext cx="50442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Бизнес-ценность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0207" y="269748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что получает enterprise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3017520"/>
            <a:ext cx="50442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Готовность к compliance-ревью</a:t>
            </a:r>
            <a:r>
              <a:rPr sz="1200">
                <a:solidFill>
                  <a:srgbClr val="0F172A"/>
                </a:solidFill>
                <a:latin typeface="Calibri"/>
              </a:rPr>
              <a:t> — контролируемые точки доступа и аудит-следы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Безопасное расширение на всю компанию</a:t>
            </a:r>
            <a:r>
              <a:rPr sz="1200">
                <a:solidFill>
                  <a:srgbClr val="0F172A"/>
                </a:solidFill>
                <a:latin typeface="Calibri"/>
              </a:rPr>
              <a:t> — тенанты и scopes позволяют разводить отделы и регионы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Защита данных за пределами периметра</a:t>
            </a:r>
            <a:r>
              <a:rPr sz="1200">
                <a:solidFill>
                  <a:srgbClr val="0F172A"/>
                </a:solidFill>
                <a:latin typeface="Calibri"/>
              </a:rPr>
              <a:t> — криптография на исходящих интеграциях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Меньше теневого AI</a:t>
            </a:r>
            <a:r>
              <a:rPr sz="1200">
                <a:solidFill>
                  <a:srgbClr val="0F172A"/>
                </a:solidFill>
                <a:latin typeface="Calibri"/>
              </a:rPr>
              <a:t> — разрешённый централизованный путь дешевле, чем запреты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ТРЕБОВАНИЕ 3 · VENDOR-АГНОСТИЧНОСТЬ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Свобода выбора моделей и провайдеров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6077"/>
                </a:solidFill>
                <a:latin typeface="Calibri"/>
              </a:rPr>
              <a:t>Multi-LLM каталог в OpenAI-совместимом формате (ADR 0012). Модель выбирается под задачу, не под контракт с одним поставщиком.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03120"/>
            <a:ext cx="5455767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09728" cy="4023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86000"/>
            <a:ext cx="50442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Реализация в 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технический контур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50442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Multi-LLM каталог (ADR 0012)</a:t>
            </a:r>
            <a:r>
              <a:rPr sz="1200">
                <a:solidFill>
                  <a:srgbClr val="0F172A"/>
                </a:solidFill>
                <a:latin typeface="Calibri"/>
              </a:rPr>
              <a:t> — OpenAI, Anthropic, Google, AWS Bedrock, локальные модели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OpenAI-совместимый интерфейс</a:t>
            </a:r>
            <a:r>
              <a:rPr sz="1200">
                <a:solidFill>
                  <a:srgbClr val="0F172A"/>
                </a:solidFill>
                <a:latin typeface="Calibri"/>
              </a:rPr>
              <a:t> — единый формат запросов, прозрачная маршрутизация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Native LLM tool-calling (ADR 0011)</a:t>
            </a:r>
            <a:r>
              <a:rPr sz="1200">
                <a:solidFill>
                  <a:srgbClr val="0F172A"/>
                </a:solidFill>
                <a:latin typeface="Calibri"/>
              </a:rPr>
              <a:t> — tool-calling работает одинаково для всех совместимых провайдеров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Гексагональные адаптеры</a:t>
            </a:r>
            <a:r>
              <a:rPr sz="1200">
                <a:solidFill>
                  <a:srgbClr val="0F172A"/>
                </a:solidFill>
                <a:latin typeface="Calibri"/>
              </a:rPr>
              <a:t> — новый провайдер = новый адаптер, без переписывания ядра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5887" y="2103120"/>
            <a:ext cx="5455767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15887" y="2103120"/>
            <a:ext cx="109728" cy="402336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0207" y="2286000"/>
            <a:ext cx="50442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Бизнес-ценность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0207" y="269748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что получает enterprise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3017520"/>
            <a:ext cx="50442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Защита прошлых инвестиций в AI</a:t>
            </a:r>
            <a:r>
              <a:rPr sz="1200">
                <a:solidFill>
                  <a:srgbClr val="0F172A"/>
                </a:solidFill>
                <a:latin typeface="Calibri"/>
              </a:rPr>
              <a:t> — прежние интеграции и промпты переживают смену провайдера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Лучшая модель под каждую задачу</a:t>
            </a:r>
            <a:r>
              <a:rPr sz="1200">
                <a:solidFill>
                  <a:srgbClr val="0F172A"/>
                </a:solidFill>
                <a:latin typeface="Calibri"/>
              </a:rPr>
              <a:t> — дешёвая для рутины, мощная — для критичных шагов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Переговорная позиция с вендорами</a:t>
            </a:r>
            <a:r>
              <a:rPr sz="1200">
                <a:solidFill>
                  <a:srgbClr val="0F172A"/>
                </a:solidFill>
                <a:latin typeface="Calibri"/>
              </a:rPr>
              <a:t> — возможность мигрировать = аргумент в коммерции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Региональные ограничения</a:t>
            </a:r>
            <a:r>
              <a:rPr sz="1200">
                <a:solidFill>
                  <a:srgbClr val="0F172A"/>
                </a:solidFill>
                <a:latin typeface="Calibri"/>
              </a:rPr>
              <a:t> — выбор провайдера по геозоне и data-residency требованиям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ТРЕБОВАНИЕ 4 · СТОИМОСТЬ И ПРОИЗВОДИТЕЛЬНОСТЬ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Контроль токенов и операционных расходов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6077"/>
                </a:solidFill>
                <a:latin typeface="Calibri"/>
              </a:rPr>
              <a:t>Токены и compute растут нелинейно. ork снижает расход за счёт DAG-исполнителя, dynamic embeds и filtered MCP-контекста.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03120"/>
            <a:ext cx="5455767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09728" cy="4023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86000"/>
            <a:ext cx="50442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Реализация в 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технический контур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50442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Workflow engine (ADR 0018)</a:t>
            </a:r>
            <a:r>
              <a:rPr sz="1200">
                <a:solidFill>
                  <a:srgbClr val="0F172A"/>
                </a:solidFill>
                <a:latin typeface="Calibri"/>
              </a:rPr>
              <a:t> — DAG с параллельным исполнением, без лишних круговых вызовов LLM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Dynamic embeds (ADR 0015)</a:t>
            </a:r>
            <a:r>
              <a:rPr sz="1200">
                <a:solidFill>
                  <a:srgbClr val="0F172A"/>
                </a:solidFill>
                <a:latin typeface="Calibri"/>
              </a:rPr>
              <a:t> — в промпт подставляются только вычисленные значения, не сырые данные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Native + LLM-tools + MCP (ADR 0010, 0011)</a:t>
            </a:r>
            <a:r>
              <a:rPr sz="1200">
                <a:solidFill>
                  <a:srgbClr val="0F172A"/>
                </a:solidFill>
                <a:latin typeface="Calibri"/>
              </a:rPr>
              <a:t> — три слоя инструментов: дешёвые шаги выполняются без LLM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Rust runtime</a:t>
            </a:r>
            <a:r>
              <a:rPr sz="1200">
                <a:solidFill>
                  <a:srgbClr val="0F172A"/>
                </a:solidFill>
                <a:latin typeface="Calibri"/>
              </a:rPr>
              <a:t> — низкий overhead на агента, нет GC-пауз, плотная упаковка процессов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5887" y="2103120"/>
            <a:ext cx="5455767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15887" y="2103120"/>
            <a:ext cx="109728" cy="402336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0207" y="2286000"/>
            <a:ext cx="50442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Бизнес-ценность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0207" y="269748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что получает enterprise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3017520"/>
            <a:ext cx="50442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Расход токенов ↓</a:t>
            </a:r>
            <a:r>
              <a:rPr sz="1200">
                <a:solidFill>
                  <a:srgbClr val="0F172A"/>
                </a:solidFill>
                <a:latin typeface="Calibri"/>
              </a:rPr>
              <a:t> — в LLM попадает только релевантный контекст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Время ответа ↓</a:t>
            </a:r>
            <a:r>
              <a:rPr sz="1200">
                <a:solidFill>
                  <a:srgbClr val="0F172A"/>
                </a:solidFill>
                <a:latin typeface="Calibri"/>
              </a:rPr>
              <a:t> — параллельный DAG быстрее последовательной цепочки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Предсказуемая стоимость пилота</a:t>
            </a:r>
            <a:r>
              <a:rPr sz="1200">
                <a:solidFill>
                  <a:srgbClr val="0F172A"/>
                </a:solidFill>
                <a:latin typeface="Calibri"/>
              </a:rPr>
              <a:t> — видно, какой шаг сколько стоит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Меньше железа на ту же нагрузку</a:t>
            </a:r>
            <a:r>
              <a:rPr sz="1200">
                <a:solidFill>
                  <a:srgbClr val="0F172A"/>
                </a:solidFill>
                <a:latin typeface="Calibri"/>
              </a:rPr>
              <a:t> — Rust позволяет уплотнить инстансы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ТРЕБОВАНИЕ 5 · МАСШТАБ И УСТОЙЧИВОСТЬ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Production-ready event-driven архитектура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9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6077"/>
                </a:solidFill>
                <a:latin typeface="Calibri"/>
              </a:rPr>
              <a:t>Sync-нагрузка через Kong, async — через Kafka. Агенты исполняются параллельно, отказ одного компонента не валит остальные.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03120"/>
            <a:ext cx="5455767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09728" cy="4023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86000"/>
            <a:ext cx="50442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Реализация в 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технический контур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50442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Гибридный транспорт (ADR 0004)</a:t>
            </a:r>
            <a:r>
              <a:rPr sz="1200">
                <a:solidFill>
                  <a:srgbClr val="0F172A"/>
                </a:solidFill>
                <a:latin typeface="Calibri"/>
              </a:rPr>
              <a:t> — Kong/HTTP+SSE для sync, Kafka для async — горизонтальное масштабирование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Параллельный DAG (ADR 0018)</a:t>
            </a:r>
            <a:r>
              <a:rPr sz="1200">
                <a:solidFill>
                  <a:srgbClr val="0F172A"/>
                </a:solidFill>
                <a:latin typeface="Calibri"/>
              </a:rPr>
              <a:t> — независимые шаги workflow исполняются одновременно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Decoupled адаптеры</a:t>
            </a:r>
            <a:r>
              <a:rPr sz="1200">
                <a:solidFill>
                  <a:srgbClr val="0F172A"/>
                </a:solidFill>
                <a:latin typeface="Calibri"/>
              </a:rPr>
              <a:t> — сбой gateway, MCP-tool или LLM локализован, не каскадирует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Push с retry (ADR 0009)</a:t>
            </a:r>
            <a:r>
              <a:rPr sz="1200">
                <a:solidFill>
                  <a:srgbClr val="0F172A"/>
                </a:solidFill>
                <a:latin typeface="Calibri"/>
              </a:rPr>
              <a:t> — доставка событий гарантированно или явно отложена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5887" y="2103120"/>
            <a:ext cx="5455767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15887" y="2103120"/>
            <a:ext cx="109728" cy="402336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0207" y="2286000"/>
            <a:ext cx="50442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Бизнес-ценность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0207" y="269748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что получает enterprise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3017520"/>
            <a:ext cx="50442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Масштаб под рост нагрузки</a:t>
            </a:r>
            <a:r>
              <a:rPr sz="1200">
                <a:solidFill>
                  <a:srgbClr val="0F172A"/>
                </a:solidFill>
                <a:latin typeface="Calibri"/>
              </a:rPr>
              <a:t> — добавление инстансов, не переписывание архитектуры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SLA по сценариям</a:t>
            </a:r>
            <a:r>
              <a:rPr sz="1200">
                <a:solidFill>
                  <a:srgbClr val="0F172A"/>
                </a:solidFill>
                <a:latin typeface="Calibri"/>
              </a:rPr>
              <a:t> — graceful degradation при отказе одного провайдера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Готовность к пиковым нагрузкам</a:t>
            </a:r>
            <a:r>
              <a:rPr sz="1200">
                <a:solidFill>
                  <a:srgbClr val="0F172A"/>
                </a:solidFill>
                <a:latin typeface="Calibri"/>
              </a:rPr>
              <a:t> — Kafka буферизует всплески async-задач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Production-зрелость, а не demo</a:t>
            </a:r>
            <a:r>
              <a:rPr sz="1200">
                <a:solidFill>
                  <a:srgbClr val="0F172A"/>
                </a:solidFill>
                <a:latin typeface="Calibri"/>
              </a:rPr>
              <a:t> — архитектура принята как ADR, а не подобрана случайно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ТРЕБОВАНИЕ 6 · OBSERVABILITY И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Единая точка контроля над AI-действиями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10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6077"/>
                </a:solidFill>
                <a:latin typeface="Calibri"/>
              </a:rPr>
              <a:t>Workflow viewer и трассировка (ADR 0022 в работе) дают сквозной обзор: кто кого вызвал, какой LLM использован, сколько потрачено.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03120"/>
            <a:ext cx="5455767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09728" cy="4023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86000"/>
            <a:ext cx="50442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Реализация в 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технический контур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50442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Workflow viewer (ADR 0017)</a:t>
            </a:r>
            <a:r>
              <a:rPr sz="1200">
                <a:solidFill>
                  <a:srgbClr val="0F172A"/>
                </a:solidFill>
                <a:latin typeface="Calibri"/>
              </a:rPr>
              <a:t> — real-time просмотр шагов, parts, артефактов и LLM-вызовов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Трассировка A2A (ADR 0008)</a:t>
            </a:r>
            <a:r>
              <a:rPr sz="1200">
                <a:solidFill>
                  <a:srgbClr val="0F172A"/>
                </a:solidFill>
                <a:latin typeface="Calibri"/>
              </a:rPr>
              <a:t> — task-id связывает все промежуточные события в один поток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Observability (ADR 0022)</a:t>
            </a:r>
            <a:r>
              <a:rPr sz="1200">
                <a:solidFill>
                  <a:srgbClr val="0F172A"/>
                </a:solidFill>
                <a:latin typeface="Calibri"/>
              </a:rPr>
              <a:t> — OpenTelemetry-метрики, токены и стоимость по сценариям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Структурные логи и аудит</a:t>
            </a:r>
            <a:r>
              <a:rPr sz="1200">
                <a:solidFill>
                  <a:srgbClr val="0F172A"/>
                </a:solidFill>
                <a:latin typeface="Calibri"/>
              </a:rPr>
              <a:t> — все вызовы агентов, MCP-tools и push доступны для 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5887" y="2103120"/>
            <a:ext cx="5455767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15887" y="2103120"/>
            <a:ext cx="109728" cy="402336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0207" y="2286000"/>
            <a:ext cx="50442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Бизнес-ценность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0207" y="269748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что получает enterprise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3017520"/>
            <a:ext cx="50442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End-to-end видимость</a:t>
            </a:r>
            <a:r>
              <a:rPr sz="1200">
                <a:solidFill>
                  <a:srgbClr val="0F172A"/>
                </a:solidFill>
                <a:latin typeface="Calibri"/>
              </a:rPr>
              <a:t> — от запроса пользователя до конечного действия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Аудит для регуляторов</a:t>
            </a:r>
            <a:r>
              <a:rPr sz="1200">
                <a:solidFill>
                  <a:srgbClr val="0F172A"/>
                </a:solidFill>
                <a:latin typeface="Calibri"/>
              </a:rPr>
              <a:t> — кто, когда, какой агент, какая модель, какой результат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Быстрая диагностика инцидентов</a:t>
            </a:r>
            <a:r>
              <a:rPr sz="1200">
                <a:solidFill>
                  <a:srgbClr val="0F172A"/>
                </a:solidFill>
                <a:latin typeface="Calibri"/>
              </a:rPr>
              <a:t> — видно, на каком шаге workflow что пошло не так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Контроль расходов</a:t>
            </a:r>
            <a:r>
              <a:rPr sz="1200">
                <a:solidFill>
                  <a:srgbClr val="0F172A"/>
                </a:solidFill>
                <a:latin typeface="Calibri"/>
              </a:rPr>
              <a:t> — стоимость каждого workflow видна как метрика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ТРЕБОВАНИЕ 7 · КАНАЛЫ ДОСТУПА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AI там, где работает пользователь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11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6077"/>
                </a:solidFill>
                <a:latin typeface="Calibri"/>
              </a:rPr>
              <a:t>Generic Gateways (ADR 0013) дают единый адаптерный слой: один и тот же агент доступен через Slack, Teams, REST или собственный 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03120"/>
            <a:ext cx="5455767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09728" cy="4023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86000"/>
            <a:ext cx="50442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Реализация в 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технический контур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50442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Generic Gateways (ADR 0013)</a:t>
            </a:r>
            <a:r>
              <a:rPr sz="1200">
                <a:solidFill>
                  <a:srgbClr val="0F172A"/>
                </a:solidFill>
                <a:latin typeface="Calibri"/>
              </a:rPr>
              <a:t> — REST, webhook, WebUI, MCP-as-gateway — за одним абстракционным слоем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Web UI (ADR 0017)</a:t>
            </a:r>
            <a:r>
              <a:rPr sz="1200">
                <a:solidFill>
                  <a:srgbClr val="0F172A"/>
                </a:solidFill>
                <a:latin typeface="Calibri"/>
              </a:rPr>
              <a:t> — React-чат-клиент поверх A2A-стримов из коробки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Slack / Teams gateway</a:t>
            </a:r>
            <a:r>
              <a:rPr sz="1200">
                <a:solidFill>
                  <a:srgbClr val="0F172A"/>
                </a:solidFill>
                <a:latin typeface="Calibri"/>
              </a:rPr>
              <a:t> — адаптеры на тот же общий контракт A2A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Public API</a:t>
            </a:r>
            <a:r>
              <a:rPr sz="1200">
                <a:solidFill>
                  <a:srgbClr val="0F172A"/>
                </a:solidFill>
                <a:latin typeface="Calibri"/>
              </a:rPr>
              <a:t> — JSON-RPC + SSE, документированный, версионируемый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5887" y="2103120"/>
            <a:ext cx="5455767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15887" y="2103120"/>
            <a:ext cx="109728" cy="402336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0207" y="2286000"/>
            <a:ext cx="50442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Бизнес-ценность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0207" y="269748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что получает enterprise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3017520"/>
            <a:ext cx="50442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Высокая adoption</a:t>
            </a:r>
            <a:r>
              <a:rPr sz="1200">
                <a:solidFill>
                  <a:srgbClr val="0F172A"/>
                </a:solidFill>
                <a:latin typeface="Calibri"/>
              </a:rPr>
              <a:t> — пользователи остаются в привычных инструментах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Единая логика, разные каналы</a:t>
            </a:r>
            <a:r>
              <a:rPr sz="1200">
                <a:solidFill>
                  <a:srgbClr val="0F172A"/>
                </a:solidFill>
                <a:latin typeface="Calibri"/>
              </a:rPr>
              <a:t> — новый канал = новый gateway, не новый агент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Embed в существующие workflows</a:t>
            </a:r>
            <a:r>
              <a:rPr sz="1200">
                <a:solidFill>
                  <a:srgbClr val="0F172A"/>
                </a:solidFill>
                <a:latin typeface="Calibri"/>
              </a:rPr>
              <a:t> — AI встраивается в текущие процессы, не ломая их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Контролируемые точки входа</a:t>
            </a:r>
            <a:r>
              <a:rPr sz="1200">
                <a:solidFill>
                  <a:srgbClr val="0F172A"/>
                </a:solidFill>
                <a:latin typeface="Calibri"/>
              </a:rPr>
              <a:t> — каждый gateway можно ограничить scope-ом и rate-limit-ом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ТРЕБОВАНИЕ 8 · СКОРОСТЬ ЭКСПЕРИМЕНТОВ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Pilot → production за недели, а не кварталы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6077"/>
                </a:solidFill>
                <a:latin typeface="Calibri"/>
              </a:rPr>
              <a:t>Двухконтурная разработка: YAML-конфиги для бизнес-аналитиков, Rust/Python — для разработчиков. Federation позволяет переиспользовать существующих агентов.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03120"/>
            <a:ext cx="5455767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09728" cy="4023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86000"/>
            <a:ext cx="50442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Реализация в 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технический контур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50442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YAML workflow templates</a:t>
            </a:r>
            <a:r>
              <a:rPr sz="1200">
                <a:solidFill>
                  <a:srgbClr val="0F172A"/>
                </a:solidFill>
                <a:latin typeface="Calibri"/>
              </a:rPr>
              <a:t> — сценарии описываются декларативно в workflow-templates/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Web UI чат (ADR 0017)</a:t>
            </a:r>
            <a:r>
              <a:rPr sz="1200">
                <a:solidFill>
                  <a:srgbClr val="0F172A"/>
                </a:solidFill>
                <a:latin typeface="Calibri"/>
              </a:rPr>
              <a:t> — быстрая ручная проверка агентов и workflow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Federation (ADR 0007)</a:t>
            </a:r>
            <a:r>
              <a:rPr sz="1200">
                <a:solidFill>
                  <a:srgbClr val="0F172A"/>
                </a:solidFill>
                <a:latin typeface="Calibri"/>
              </a:rPr>
              <a:t> — Python-агенты на LangGraph подключаются как A2A-пиры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ADR-driven процесс</a:t>
            </a:r>
            <a:r>
              <a:rPr sz="1200">
                <a:solidFill>
                  <a:srgbClr val="0F172A"/>
                </a:solidFill>
                <a:latin typeface="Calibri"/>
              </a:rPr>
              <a:t> — каждое решение зафиксировано — новые члены команды быстро онбордятся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5887" y="2103120"/>
            <a:ext cx="5455767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15887" y="2103120"/>
            <a:ext cx="109728" cy="402336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0207" y="2286000"/>
            <a:ext cx="504428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Бизнес-ценность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0207" y="269748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что получает enterprise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3017520"/>
            <a:ext cx="50442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Сокращение цикла идея → пилот</a:t>
            </a:r>
            <a:r>
              <a:rPr sz="1200">
                <a:solidFill>
                  <a:srgbClr val="0F172A"/>
                </a:solidFill>
                <a:latin typeface="Calibri"/>
              </a:rPr>
              <a:t> — недели вместо кварталов на простой сценарий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Закрытие skills-gap</a:t>
            </a:r>
            <a:r>
              <a:rPr sz="1200">
                <a:solidFill>
                  <a:srgbClr val="0F172A"/>
                </a:solidFill>
                <a:latin typeface="Calibri"/>
              </a:rPr>
              <a:t> — бизнес-аналитики работают в YAML, разработчики — в коде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Переиспользование инвестиций</a:t>
            </a:r>
            <a:r>
              <a:rPr sz="1200">
                <a:solidFill>
                  <a:srgbClr val="0F172A"/>
                </a:solidFill>
                <a:latin typeface="Calibri"/>
              </a:rPr>
              <a:t> — существующие LangGraph / Python-агенты не выбрасываются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Прозрачная история решений</a:t>
            </a:r>
            <a:r>
              <a:rPr sz="1200">
                <a:solidFill>
                  <a:srgbClr val="0F172A"/>
                </a:solidFill>
                <a:latin typeface="Calibri"/>
              </a:rPr>
              <a:t> — ADR — документация, которая не устаревает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ОТЛИЧИЯ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Чем ork отличается от альтернатив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13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6077"/>
                </a:solidFill>
                <a:latin typeface="Calibri"/>
              </a:rPr>
              <a:t>Сравнение позиционирования, не feature-by-feature таблица.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Rust 2024 в ядре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Память безопасна по построению, без GC-пауз. Низкий overhead на агента — важно при сотнях параллельных задач.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3172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5146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Open-source ядро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7180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Нет проприетарных протоколов в основе. A2A — открытый стандарт, MCP — открытый стандарт. Платформа не блокирует данные.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434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526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ADR-driven эволюция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8348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Каждое архитектурное решение зафиксировано как ADR с критериями приёмки. 27 ADR на момент апреля 2026 — прозрачная история выбора.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3434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526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Гексагональная изоляция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98348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Postgres, Redis, Kafka, LLM-провайдер — заменяемые адаптеры. Доменное ядро не переписывается при смене инфраструктуры.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ЗРЕЛОСТЬ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Что уже работает в коде сегодня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5349240" cy="4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Полный A2A-стек</a:t>
            </a:r>
            <a:r>
              <a:rPr sz="1200">
                <a:solidFill>
                  <a:srgbClr val="0F172A"/>
                </a:solidFill>
                <a:latin typeface="Calibri"/>
              </a:rPr>
              <a:t> — cards · tasks · streaming · cancel · push (ADR 0003, 0008, 0009)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Гибридный транспорт</a:t>
            </a:r>
            <a:r>
              <a:rPr sz="1200">
                <a:solidFill>
                  <a:srgbClr val="0F172A"/>
                </a:solidFill>
                <a:latin typeface="Calibri"/>
              </a:rPr>
              <a:t> — Kong/HTTP+SSE для sync, Kafka для async (ADR 0004)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Workflow engine</a:t>
            </a:r>
            <a:r>
              <a:rPr sz="1200">
                <a:solidFill>
                  <a:srgbClr val="0F172A"/>
                </a:solidFill>
                <a:latin typeface="Calibri"/>
              </a:rPr>
              <a:t> — DAG-исполнитель, embed-резолв, артефакты (ADR 0015, 0016, 0018)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Tool plane</a:t>
            </a:r>
            <a:r>
              <a:rPr sz="1200">
                <a:solidFill>
                  <a:srgbClr val="0F172A"/>
                </a:solidFill>
                <a:latin typeface="Calibri"/>
              </a:rPr>
              <a:t> — native + LLM-tools + MCP (rmcp 0.16, ADR 0010, 0011)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Multi-LLM каталог</a:t>
            </a:r>
            <a:r>
              <a:rPr sz="1200">
                <a:solidFill>
                  <a:srgbClr val="0F172A"/>
                </a:solidFill>
                <a:latin typeface="Calibri"/>
              </a:rPr>
              <a:t> — OpenAI-совместимый формат, провайдеры заменяемы (ADR 0012)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349240" cy="4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Generic Gateways</a:t>
            </a:r>
            <a:r>
              <a:rPr sz="1200">
                <a:solidFill>
                  <a:srgbClr val="0F172A"/>
                </a:solidFill>
                <a:latin typeface="Calibri"/>
              </a:rPr>
              <a:t> — REST · webhook · WebUI · MCP-as-gateway (ADR 0013)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Push-уведомления</a:t>
            </a:r>
            <a:r>
              <a:rPr sz="1200">
                <a:solidFill>
                  <a:srgbClr val="0F172A"/>
                </a:solidFill>
                <a:latin typeface="Calibri"/>
              </a:rPr>
              <a:t> — ES256 JWS + envelope-шифрование (ADR 0009)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Артефакты</a:t>
            </a:r>
            <a:r>
              <a:rPr sz="1200">
                <a:solidFill>
                  <a:srgbClr val="0F172A"/>
                </a:solidFill>
                <a:latin typeface="Calibri"/>
              </a:rPr>
              <a:t> — S3 / MinIO с версионируемым append-API (ADR 0016)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Federation</a:t>
            </a:r>
            <a:r>
              <a:rPr sz="1200">
                <a:solidFill>
                  <a:srgbClr val="0F172A"/>
                </a:solidFill>
                <a:latin typeface="Calibri"/>
              </a:rPr>
              <a:t> — A2aRemoteAgent + Python-пир в demo (LangGraph, ADR 0007)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·  Web UI</a:t>
            </a:r>
            <a:r>
              <a:rPr sz="1200">
                <a:solidFill>
                  <a:srgbClr val="0F172A"/>
                </a:solidFill>
                <a:latin typeface="Calibri"/>
              </a:rPr>
              <a:t> — React-чат-клиент поверх A2A-стримов (ADR 0017)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077"/>
                </a:solidFill>
                <a:latin typeface="Calibri"/>
              </a:rPr>
              <a:t>Демо в demo/ — 11 стадий, ~15 минут, всё на localhost.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Что в очереди ADR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6077"/>
                </a:solidFill>
                <a:latin typeface="Calibri"/>
              </a:rPr>
              <a:t>Приоритеты на следующие циклы. Каждый пункт — отдельный ADR с критериями приёмки.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4028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ADR 0019 · Scheduled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432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Cron-планировщик для агентов: периодические workflows и SLA-окна.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4028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ADR 0020 · Tenant security &amp;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Изоляция тенантов на уровне данных, секретов и сетевого периметра.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6616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7033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ADR 0021 · RBAC scopes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6908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Granular scopes для пользователей, агентов и API-токенов.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56616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7033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ADR 0022 · Observability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06908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OpenTelemetry-трассировка, метрики токенов и стоимости, аудит.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9204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029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ADR 0023 · Migration &amp;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39496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Контракт обратной совместимости и стратегия выкатки в production.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89204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029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ADR 0024–0027 · Расширения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39496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WASM-плагины, typed output validation, topology selection, human-in-the-loop.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БИЗНЕС-ЭФФЕКТ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Сводный эффект для IT-бюджета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16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574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40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TCO платформы 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Rust + filtered context + multi-LLM маршрутизация — снижение затрат на токены и compute на каждый сценарий.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574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Time-to-pilot недели, не кварталы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9748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YAML-workflow + WebUI-чат + готовые gateway-адаптеры сокращают цикл от идеи до работающего пилота.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6908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5196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Vendor lock-in →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70916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Open A2A, open MCP, заменяемые адаптеры БД и LLM. Инвестиции в логику переживают смену поставщика.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06908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25196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Audit и governance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709160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Workflow viewer, трассировка вызовов, RBAC-scopes — единая точка контроля для compliance и SRE.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ДЕМО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15 минут на localhost: что показать руководителю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17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6077"/>
                </a:solidFill>
                <a:latin typeface="Calibri"/>
              </a:rPr>
              <a:t>Три сцены, которые отвечают на вопросы менеджера: «реально ли работает», «как масштабируется», «как интегрируется».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57400"/>
            <a:ext cx="10972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57400"/>
            <a:ext cx="109728" cy="109728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Сцена 1 · A2A в действии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60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Агент-карточки, типизированные parts, SSE-стриминг ответа. Доказательство: единый протокол вместо зоопарка SDK.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91840"/>
            <a:ext cx="10972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91840"/>
            <a:ext cx="109728" cy="109728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29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Сцена 2 · Federation + LangGraph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94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Rust-оркестратор зовёт Python-агента на LangGraph через A2A. Доказательство: интеграция со стеком данных-сайентистов без перевода.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26280"/>
            <a:ext cx="10972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526280"/>
            <a:ext cx="109728" cy="109728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63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Сцена 3 · MCP + push + артефакты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29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Workflow дергает внешний MCP-tool, получает артефакт, шлёт подписанный push. Доказательство: end-to-end production-сценарий.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ЧТО ДАЛЬШЕ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Как двигаться дальше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556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6077"/>
                </a:solidFill>
                <a:latin typeface="Calibri"/>
              </a:rPr>
              <a:t>18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10972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09728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65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Шаг 1 · 30 минут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31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Прогон демо на localhost. Проверка A2A, federation, MCP, push.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63240"/>
            <a:ext cx="10972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063240"/>
            <a:ext cx="109728" cy="109728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00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Шаг 2 · 1 неделя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66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Pilot-сценарий из реального бэклога: один workflow, один MCP-tool, один gateway.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97680"/>
            <a:ext cx="10972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97680"/>
            <a:ext cx="109728" cy="109728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34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Шаг 3 · 1 квартал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00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Production-выкатка с RBAC, observability и SLA: ADR 0020–0023 в работе.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4B2A"/>
                </a:solidFill>
                <a:latin typeface="Calibri"/>
              </a:rPr>
              <a:t>ork — open code, ADR-driven, готов к интеграции с вашим IT-ландшафтом.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