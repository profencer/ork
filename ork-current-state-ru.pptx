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0"/>
            <a:ext cx="164592" cy="22860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4B2A"/>
                </a:solidFill>
                <a:latin typeface="Calibri"/>
              </a:rPr>
              <a:t>Мульти-агентная оркестрация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Calibri"/>
              </a:rPr>
              <a:t>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14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Текущее состояние платформы и обзор демо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46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1EA"/>
                </a:solidFill>
                <a:latin typeface="Calibri"/>
              </a:rPr>
              <a:t>A2A-first · MCP · Kong + Kafka · Rust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217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7"/>
                </a:solidFill>
                <a:latin typeface="Calibri"/>
              </a:rPr>
              <a:t>Апрель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ОБЗОР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Что такое ork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554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Платформа оркестрации множества агентов на Rust, построенная вокруг протокола Google A2A.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4B2A"/>
                </a:solidFill>
                <a:latin typeface="Calibri"/>
              </a:rPr>
              <a:t>A2A-first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Каждый агент — локальный или удалённый — реализует A2A: cards, tasks, типизированные parts, streaming, cancel, push.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799" y="233172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19" y="251460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4B2A"/>
                </a:solidFill>
                <a:latin typeface="Calibri"/>
              </a:rPr>
              <a:t>Гибридный транспорт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9" y="297180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Sync — через Kong (HTTP/SSE). Async — через Kafka. Без Solace.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434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2628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4B2A"/>
                </a:solidFill>
                <a:latin typeface="Calibri"/>
              </a:rPr>
              <a:t>MCP как единая шина инструментов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8348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Внешние инструменты подключаются как MCP-серверы. Внутренние — нативные tools на Rust.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799" y="43434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19" y="452628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4B2A"/>
                </a:solidFill>
                <a:latin typeface="Calibri"/>
              </a:rPr>
              <a:t>Гексагональная архитектура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19" y="498348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Доменная логика в ork-core / ork-agents изолирована от axum, sqlx, reqwest, rmcp, rskafka через порты.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Архитектура: A2A-first, гексагональная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691640"/>
            <a:ext cx="106070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109728" cy="141732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4B2A"/>
                </a:solidFill>
                <a:latin typeface="Calibri"/>
              </a:rPr>
              <a:t>Surfaces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ork-api · ork-cli · ork-webui · ork-gateways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73552"/>
            <a:ext cx="106070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273552"/>
            <a:ext cx="109728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5643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Domain (порты)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13632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ork-core (workflow, runs) · ork-agents (Agent port) · ork-a2a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55464"/>
            <a:ext cx="106070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855464"/>
            <a:ext cx="109728" cy="1417320"/>
          </a:xfrm>
          <a:prstGeom prst="rect">
            <a:avLst/>
          </a:prstGeom>
          <a:solidFill>
            <a:srgbClr val="556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0383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56077"/>
                </a:solidFill>
                <a:latin typeface="Calibri"/>
              </a:rPr>
              <a:t>Adapters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495544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ork-persistence (Postgres) · ork-cache (Redis) · ork-eventing (Kafka) · ork-mcp (rmcp) · ork-llm · ork-storage (S3) · ork-push · ork-integrations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7"/>
                </a:solidFill>
                <a:latin typeface="Calibri"/>
              </a:rPr>
              <a:t>Жёсткие инварианты: A2A-first · нет Solace · внешние tools = MCP · ADR неизменяемы после Accepted.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СТЕК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Технологический стек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69164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4B2A"/>
                </a:solidFill>
                <a:latin typeface="Calibri"/>
              </a:rPr>
              <a:t>Язык и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31546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Rust 2024, MSRV 1.85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tokio (full)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tracing + tracing-subscriber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9164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8288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4B2A"/>
                </a:solidFill>
                <a:latin typeface="Calibri"/>
              </a:rPr>
              <a:t>HTTP &amp; wire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194560"/>
            <a:ext cx="31546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axum 0.8 + tower / tower-http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reqwest 0.12 (JSON-RPC + SSE)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eventsource-stream 0.2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69164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8288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4B2A"/>
                </a:solidFill>
                <a:latin typeface="Calibri"/>
              </a:rPr>
              <a:t>Хранилища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194560"/>
            <a:ext cx="31546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sqlx 0.8 (Postgres)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redis 0.27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aws-sdk-s3 1.x (S3 / MinIO)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2900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5661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4B2A"/>
                </a:solidFill>
                <a:latin typeface="Calibri"/>
              </a:rPr>
              <a:t>Async &amp; 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31546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rskafka 0.6 (pure-Rust)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rmcp 0.16 (MCP client)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octocrab 0.44 (GitHub)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42900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35661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4B2A"/>
                </a:solidFill>
                <a:latin typeface="Calibri"/>
              </a:rPr>
              <a:t>Crypto &amp;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931920"/>
            <a:ext cx="31546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p256, jsonwebtoken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aes-gcm + hkdf + sha2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secrecy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3429000"/>
            <a:ext cx="36118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35661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4B2A"/>
                </a:solidFill>
                <a:latin typeface="Calibri"/>
              </a:rPr>
              <a:t>Frontend (WebUI)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931920"/>
            <a:ext cx="31546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React + TypeScript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Vite + Tailwind CSS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0F172A"/>
                </a:solidFill>
              </a:rPr>
              <a:t>· include_dir 0.7 (embed)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КОДОВАЯ БАЗА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Структура воркспейса (17 крейтов)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69164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01368"/>
            <a:ext cx="23682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4B2A"/>
                </a:solidFill>
                <a:latin typeface="Consolas"/>
              </a:rPr>
              <a:t>ork-a2a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03120"/>
            <a:ext cx="2368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A2A типы, JSON-RPC, SSE encode/decode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21024" y="169164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6" y="1801368"/>
            <a:ext cx="23682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4B2A"/>
                </a:solidFill>
                <a:latin typeface="Consolas"/>
              </a:rPr>
              <a:t>ork-api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6" y="2103120"/>
            <a:ext cx="2368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HTTP/JSON-RPC сервер, маршруты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4808" y="169164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801368"/>
            <a:ext cx="23682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4B2A"/>
                </a:solidFill>
                <a:latin typeface="Consolas"/>
              </a:rPr>
              <a:t>ork-cli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03120"/>
            <a:ext cx="2368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CLI-утилита `ork`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08592" y="1691640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73184" y="1801368"/>
            <a:ext cx="23682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4B2A"/>
                </a:solidFill>
                <a:latin typeface="Consolas"/>
              </a:rPr>
              <a:t>ork-core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3184" y="2103120"/>
            <a:ext cx="2368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Workflow engine, runs, оркестрация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816352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2926080"/>
            <a:ext cx="23682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4B2A"/>
                </a:solidFill>
                <a:latin typeface="Consolas"/>
              </a:rPr>
              <a:t>ork-agents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227832"/>
            <a:ext cx="2368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Agent-порт + локальные агенты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21024" y="2816352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85616" y="2926080"/>
            <a:ext cx="23682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4B2A"/>
                </a:solidFill>
                <a:latin typeface="Consolas"/>
              </a:rPr>
              <a:t>ork-cache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5616" y="3227832"/>
            <a:ext cx="2368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Redis-кэш, SSE replay buffer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64808" y="2816352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926080"/>
            <a:ext cx="23682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4B2A"/>
                </a:solidFill>
                <a:latin typeface="Consolas"/>
              </a:rPr>
              <a:t>ork-eventing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227832"/>
            <a:ext cx="2368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Kafka producer/consumer (rskafka)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8592" y="2816352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73184" y="2926080"/>
            <a:ext cx="23682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4B2A"/>
                </a:solidFill>
                <a:latin typeface="Consolas"/>
              </a:rPr>
              <a:t>ork-gateways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3227832"/>
            <a:ext cx="2368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Gateway адаптеры (REST, webhook…)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941064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4050792"/>
            <a:ext cx="23682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4B2A"/>
                </a:solidFill>
                <a:latin typeface="Consolas"/>
              </a:rPr>
              <a:t>ork-integrations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" y="4352544"/>
            <a:ext cx="2368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ToolExecutor + native code-tools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21024" y="3941064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85616" y="4050792"/>
            <a:ext cx="23682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4B2A"/>
                </a:solidFill>
                <a:latin typeface="Consolas"/>
              </a:rPr>
              <a:t>ork-llm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85616" y="4352544"/>
            <a:ext cx="2368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LLM-провайдеры (OpenAI-compat)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64808" y="3941064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050792"/>
            <a:ext cx="23682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4B2A"/>
                </a:solidFill>
                <a:latin typeface="Consolas"/>
              </a:rPr>
              <a:t>ork-mcp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352544"/>
            <a:ext cx="2368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MCP-клиент, tool catalog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8592" y="3941064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73184" y="4050792"/>
            <a:ext cx="23682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4B2A"/>
                </a:solidFill>
                <a:latin typeface="Consolas"/>
              </a:rPr>
              <a:t>ork-persistence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73184" y="4352544"/>
            <a:ext cx="2368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Postgres-репозитории + миграции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065776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" y="5175504"/>
            <a:ext cx="23682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4B2A"/>
                </a:solidFill>
                <a:latin typeface="Consolas"/>
              </a:rPr>
              <a:t>ork-push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" y="5477256"/>
            <a:ext cx="2368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Push-уведомления, ES256 JWS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21024" y="5065776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85616" y="5175504"/>
            <a:ext cx="23682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4B2A"/>
                </a:solidFill>
                <a:latin typeface="Consolas"/>
              </a:rPr>
              <a:t>ork-storage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85616" y="5477256"/>
            <a:ext cx="2368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Артефакты и файлы (S3/MinIO)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64808" y="5065776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5175504"/>
            <a:ext cx="23682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4B2A"/>
                </a:solidFill>
                <a:latin typeface="Consolas"/>
              </a:rPr>
              <a:t>ork-webui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5477256"/>
            <a:ext cx="2368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WebUI gateway + React SPA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08592" y="5065776"/>
            <a:ext cx="26974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73184" y="5175504"/>
            <a:ext cx="23682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4B2A"/>
                </a:solidFill>
                <a:latin typeface="Consolas"/>
              </a:rPr>
              <a:t>ork-common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73184" y="5477256"/>
            <a:ext cx="23682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Общие утилиты, ошибки, конфиг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ПРОЦЕСС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Рабочий цикл: ADR → имплементация → ревью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691640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874520"/>
            <a:ext cx="502920" cy="502920"/>
          </a:xfrm>
          <a:prstGeom prst="ellipse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9280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10512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1. ADR (Proposed)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13055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7"/>
                </a:solidFill>
                <a:latin typeface="Calibri"/>
              </a:rPr>
              <a:t>Берётся шаблон 0000-template.md. Заполняются все секции, включая Acceptance criteria и Reviewer findings.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06040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2788920"/>
            <a:ext cx="502920" cy="502920"/>
          </a:xfrm>
          <a:prstGeom prst="ellipse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0720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724912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2. Имплементация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04495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7"/>
                </a:solidFill>
                <a:latin typeface="Calibri"/>
              </a:rPr>
              <a:t>Свежая сессия с ADR. Из критериев приёмки строится in-session task list. ADR во время кодинга не правится.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20440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703320"/>
            <a:ext cx="502920" cy="502920"/>
          </a:xfrm>
          <a:prstGeom prst="ellipse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2160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639312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3. Verification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95935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7"/>
                </a:solidFill>
                <a:latin typeface="Calibri"/>
              </a:rPr>
              <a:t>cargo fmt --check · cargo test --workspace · cargo clippy -D warnings + линтеры по изменённым файлам.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34840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4617720"/>
            <a:ext cx="502920" cy="502920"/>
          </a:xfrm>
          <a:prstGeom prst="ellipse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63600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553712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4. code-reviewer subagent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87375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7"/>
                </a:solidFill>
                <a:latin typeface="Calibri"/>
              </a:rPr>
              <a:t>Обязательный gate. Findings либо чинятся в сессии, либо записываются в Reviewer findings ADR.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349240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5532120"/>
            <a:ext cx="502920" cy="502920"/>
          </a:xfrm>
          <a:prstGeom prst="ellipse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55040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468112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5. Accepted + metrics.csv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78815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7"/>
                </a:solidFill>
                <a:latin typeface="Calibri"/>
              </a:rPr>
              <a:t>Статус ADR → Accepted/Implemented, индекс docs/adrs/README.md обновляется, добавляется строка в metrics.csv.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ВОЗМОЖНОСТЬ · ADR 0003 / 0008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A2A-протокол: каркас всех взаимодействий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Cards</a:t>
            </a:r>
            <a:r>
              <a:rPr sz="1500">
                <a:solidFill>
                  <a:srgbClr val="556077"/>
                </a:solidFill>
                <a:latin typeface="Calibri"/>
              </a:rPr>
              <a:t>  /.well-known/agent-card.json — публичная карточка с capabilities.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Tasks</a:t>
            </a:r>
            <a:r>
              <a:rPr sz="1500">
                <a:solidFill>
                  <a:srgbClr val="556077"/>
                </a:solidFill>
                <a:latin typeface="Calibri"/>
              </a:rPr>
              <a:t>  Полный жизненный цикл: создание, streaming событий, cancel.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Typed parts</a:t>
            </a:r>
            <a:r>
              <a:rPr sz="1500">
                <a:solidFill>
                  <a:srgbClr val="556077"/>
                </a:solidFill>
                <a:latin typeface="Calibri"/>
              </a:rPr>
              <a:t>  Text / Data / File parts в одном сообщении.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JSON-RPC + SSE</a:t>
            </a:r>
            <a:r>
              <a:rPr sz="1500">
                <a:solidFill>
                  <a:srgbClr val="556077"/>
                </a:solidFill>
                <a:latin typeface="Calibri"/>
              </a:rPr>
              <a:t>  POST /a2a/agents/{id} для команд, GET …/stream/{task_id} — для replay.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Push notifications</a:t>
            </a:r>
            <a:r>
              <a:rPr sz="1500">
                <a:solidFill>
                  <a:srgbClr val="556077"/>
                </a:solidFill>
                <a:latin typeface="Calibri"/>
              </a:rPr>
              <a:t>  tasks/pushNotificationConfig/set, ES256 JWS, encrypted envelope.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Federation</a:t>
            </a:r>
            <a:r>
              <a:rPr sz="1500">
                <a:solidFill>
                  <a:srgbClr val="556077"/>
                </a:solidFill>
                <a:latin typeface="Calibri"/>
              </a:rPr>
              <a:t>  Удалённые агенты подключаются как A2aRemoteAgent — идентичный контракт для локальных и внешних участников.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ВОЗМОЖНОСТЬ · ork-core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Workflow engine: DAG из шагов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Шаги</a:t>
            </a:r>
            <a:r>
              <a:rPr sz="1500">
                <a:solidFill>
                  <a:srgbClr val="556077"/>
                </a:solidFill>
                <a:latin typeface="Calibri"/>
              </a:rPr>
              <a:t>  agent-step, tool-call, delegate-step, for_each loop.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Зависимости</a:t>
            </a:r>
            <a:r>
              <a:rPr sz="1500">
                <a:solidFill>
                  <a:srgbClr val="556077"/>
                </a:solidFill>
                <a:latin typeface="Calibri"/>
              </a:rPr>
              <a:t>  depends_on задаёт топологию; параллелизм по умолчанию.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Шаблоны</a:t>
            </a:r>
            <a:r>
              <a:rPr sz="1500">
                <a:solidFill>
                  <a:srgbClr val="556077"/>
                </a:solidFill>
                <a:latin typeface="Calibri"/>
              </a:rPr>
              <a:t>  {{input.field}}, {{step_id.output}} — резолв во входы.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Dynamic embeds (ADR 0015)</a:t>
            </a:r>
            <a:r>
              <a:rPr sz="1500">
                <a:solidFill>
                  <a:srgbClr val="556077"/>
                </a:solidFill>
                <a:latin typeface="Calibri"/>
              </a:rPr>
              <a:t>  «var:…», «math:…», «uuid:…», «datetime:…» — две фазы: до LLM и после стрима.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Output capture</a:t>
            </a:r>
            <a:r>
              <a:rPr sz="1500">
                <a:solidFill>
                  <a:srgbClr val="556077"/>
                </a:solidFill>
                <a:latin typeface="Calibri"/>
              </a:rPr>
              <a:t>  Каждый шаг сохраняет structured output для следующих шагов.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Артефакты как first-class</a:t>
            </a:r>
            <a:r>
              <a:rPr sz="1500">
                <a:solidFill>
                  <a:srgbClr val="556077"/>
                </a:solidFill>
                <a:latin typeface="Calibri"/>
              </a:rPr>
              <a:t>  create_artifact / append_artifact / list / load — из любого шага.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ВОЗМОЖНОСТЬ · ADR 0002 / 0006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Локальные агенты и Agent-порт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7"/>
                </a:solidFill>
                <a:latin typeface="Calibri"/>
              </a:rPr>
              <a:t>5 встроенных ролей, реализующих общий dyn Agent-порт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167" y="246888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167" y="2743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64B2A"/>
                </a:solidFill>
                <a:latin typeface="Calibri"/>
              </a:rPr>
              <a:t>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3246120"/>
            <a:ext cx="173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разбивает задачу на шаги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9727" y="246888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9727" y="2743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64B2A"/>
                </a:solidFill>
                <a:latin typeface="Calibri"/>
              </a:rPr>
              <a:t>Researcher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2607" y="3246120"/>
            <a:ext cx="173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собирает контекст через инструменты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4287" y="246888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4287" y="2743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64B2A"/>
                </a:solidFill>
                <a:latin typeface="Calibri"/>
              </a:rPr>
              <a:t>Writer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7167" y="3246120"/>
            <a:ext cx="173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генерирует основной артефакт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8846" y="246888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8846" y="2743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64B2A"/>
                </a:solidFill>
                <a:latin typeface="Calibri"/>
              </a:rPr>
              <a:t>Reviewer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1726" y="3246120"/>
            <a:ext cx="173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проверяет и комментирует результат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3407" y="246888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33407" y="27432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E64B2A"/>
                </a:solidFill>
                <a:latin typeface="Calibri"/>
              </a:rPr>
              <a:t>Synthesizer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6287" y="3246120"/>
            <a:ext cx="173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сводит итоги в финальный ответ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72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Делегирование между пирами через agent_call() и шаг delegate (ADR 0006).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29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Удалённые пиры — A2aRemoteAgent (ADR 0007), JSON-RPC + SSE наружу.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ВОЗМОЖНОСТЬ · ADR 0010 / 0011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Tool plane: native + LLM-tools + MCP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69164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E64B2A"/>
                </a:solidFill>
                <a:latin typeface="Calibri"/>
              </a:rPr>
              <a:t>Native Rust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7"/>
                </a:solidFill>
                <a:latin typeface="Calibri"/>
              </a:rPr>
              <a:t>Базовые инструменты внутри платформы: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0F172A"/>
                </a:solidFill>
              </a:rPr>
              <a:t>· list_repos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0F172A"/>
                </a:solidFill>
              </a:rPr>
              <a:t>· code_search (ripgrep)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0F172A"/>
                </a:solidFill>
              </a:rPr>
              <a:t>· read_file / list_tree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0F172A"/>
                </a:solidFill>
              </a:rPr>
              <a:t>· GitHub / GitLab адаптеры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9164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9202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E64B2A"/>
                </a:solidFill>
                <a:latin typeface="Calibri"/>
              </a:rPr>
              <a:t>LLM tool-calling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4688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7"/>
                </a:solidFill>
                <a:latin typeface="Calibri"/>
              </a:rPr>
              <a:t>Стрим из LLM с tool-invocations: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10896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0F172A"/>
                </a:solidFill>
              </a:rPr>
              <a:t>· Native function-calling формат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0F172A"/>
                </a:solidFill>
              </a:rPr>
              <a:t>· Результаты возвращаются в контекст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0F172A"/>
                </a:solidFill>
              </a:rPr>
              <a:t>· Совместимо с OpenAI-схемой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69164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9202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E64B2A"/>
                </a:solidFill>
                <a:latin typeface="Calibri"/>
              </a:rPr>
              <a:t>MCP-серверы (rmcp 0.16)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4688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7"/>
                </a:solidFill>
                <a:latin typeface="Calibri"/>
              </a:rPr>
              <a:t>Внешние инструменты как процессы / HTTP: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10896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0F172A"/>
                </a:solidFill>
              </a:rPr>
              <a:t>· stdio: server-everything, local-fs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0F172A"/>
                </a:solidFill>
              </a:rPr>
              <a:t>· HTTP MCP endpoints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0F172A"/>
                </a:solidFill>
              </a:rPr>
              <a:t>· CompositeToolExecutor сводит каталоги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ВОЗМОЖНОСТЬ · ADR 0012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LLM-провайдеры: OpenAI-совместимый каталог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OpenAI-compat wire</a:t>
            </a:r>
            <a:r>
              <a:rPr sz="1500">
                <a:solidFill>
                  <a:srgbClr val="556077"/>
                </a:solidFill>
                <a:latin typeface="Calibri"/>
              </a:rPr>
              <a:t>  /chat/completions и стримы — единый формат для всех.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Per-provider конфиг</a:t>
            </a:r>
            <a:r>
              <a:rPr sz="1500">
                <a:solidFill>
                  <a:srgbClr val="556077"/>
                </a:solidFill>
                <a:latin typeface="Calibri"/>
              </a:rPr>
              <a:t>  [[llm.providers]] в TOML: base_url, auth_header, default-модель, кастомные параметры.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Демо-провайдер по умолчанию</a:t>
            </a:r>
            <a:r>
              <a:rPr sz="1500">
                <a:solidFill>
                  <a:srgbClr val="556077"/>
                </a:solidFill>
                <a:latin typeface="Calibri"/>
              </a:rPr>
              <a:t>  Minimax (MinimaxProvider) — приведён как пример «не-OpenAI».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Tool-calling нативно</a:t>
            </a:r>
            <a:r>
              <a:rPr sz="1500">
                <a:solidFill>
                  <a:srgbClr val="556077"/>
                </a:solidFill>
                <a:latin typeface="Calibri"/>
              </a:rPr>
              <a:t>  Стрим, function-calls, tool-results — без обходных схем.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Модельная политика per-agent</a:t>
            </a:r>
            <a:r>
              <a:rPr sz="1500">
                <a:solidFill>
                  <a:srgbClr val="556077"/>
                </a:solidFill>
                <a:latin typeface="Calibri"/>
              </a:rPr>
              <a:t>  Каждый агент в конфиге может выбрать своего провайдера.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ВОЗМОЖНОСТЬ · ADR 0013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Generic Gateways: единый адаптерный слой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Gateway-trait + конкретные адаптеры. Все внешние каналы входят в платформу единообразно.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68880"/>
            <a:ext cx="5349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8775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4B2A"/>
                </a:solidFill>
                <a:latin typeface="Calibri"/>
              </a:rPr>
              <a:t>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стандартный HTTP-эндпойнт с маппингом в A2A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799" y="2468880"/>
            <a:ext cx="5349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399" y="258775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4B2A"/>
                </a:solidFill>
                <a:latin typeface="Calibri"/>
              </a:rPr>
              <a:t>Webhook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399" y="28803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входящие колбэки от внешних систем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56432"/>
            <a:ext cx="5349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75304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4B2A"/>
                </a:solidFill>
                <a:latin typeface="Calibri"/>
              </a:rPr>
              <a:t>WebUI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6791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канал чат-клиента из ork-webui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799" y="3456432"/>
            <a:ext cx="5349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399" y="3575304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4B2A"/>
                </a:solidFill>
                <a:latin typeface="Calibri"/>
              </a:rPr>
              <a:t>MCP-as-gateway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399" y="386791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ork выставляет себя как MCP-сервер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43984"/>
            <a:ext cx="5349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562856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4B2A"/>
                </a:solidFill>
                <a:latin typeface="Calibri"/>
              </a:rPr>
              <a:t>Slack / Teams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55464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каркас готов; адаптеры наращиваются по мере спроса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799" y="4443984"/>
            <a:ext cx="5349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399" y="4562856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4B2A"/>
                </a:solidFill>
                <a:latin typeface="Calibri"/>
              </a:rPr>
              <a:t>Event-mesh ingress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399" y="4855464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входящий Kafka-канал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ВОЗМОЖНОСТЬ · ADR 0009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Push-уведомления и подписанные вебхуки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Подписи ES256 JWS</a:t>
            </a:r>
            <a:r>
              <a:rPr sz="1500">
                <a:solidFill>
                  <a:srgbClr val="556077"/>
                </a:solidFill>
                <a:latin typeface="Calibri"/>
              </a:rPr>
              <a:t>  p256 0.13, ключи ротуруются через CLI: ork admin push rotate-keys.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Envelope-шифрование</a:t>
            </a:r>
            <a:r>
              <a:rPr sz="1500">
                <a:solidFill>
                  <a:srgbClr val="556077"/>
                </a:solidFill>
                <a:latin typeface="Calibri"/>
              </a:rPr>
              <a:t>  HKDF + aes-gcm — payload недоступен ни Kafka, ни Postgres.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JWKS-эндпоинт</a:t>
            </a:r>
            <a:r>
              <a:rPr sz="1500">
                <a:solidFill>
                  <a:srgbClr val="556077"/>
                </a:solidFill>
                <a:latin typeface="Calibri"/>
              </a:rPr>
              <a:t>  /.well-known/jwks.json — потребители валидируют подпись.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Регистрация per-task</a:t>
            </a:r>
            <a:r>
              <a:rPr sz="1500">
                <a:solidFill>
                  <a:srgbClr val="556077"/>
                </a:solidFill>
                <a:latin typeface="Calibri"/>
              </a:rPr>
              <a:t>  tasks/pushNotificationConfig/set; адрес и схема хранятся в Postgres.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End-to-end в demo (stage 7)</a:t>
            </a:r>
            <a:r>
              <a:rPr sz="1500">
                <a:solidFill>
                  <a:srgbClr val="556077"/>
                </a:solidFill>
                <a:latin typeface="Calibri"/>
              </a:rPr>
              <a:t>  Webhook-receiver слушает 8091 и валидирует доставку и подпись.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ВОЗМОЖНОСТЬ · ADR 0016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Artifact storage: версионируемые файлы агентов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Бэкенд</a:t>
            </a:r>
            <a:r>
              <a:rPr sz="1500">
                <a:solidFill>
                  <a:srgbClr val="556077"/>
                </a:solidFill>
                <a:latin typeface="Calibri"/>
              </a:rPr>
              <a:t>  S3/MinIO через aws-sdk-s3 1.x.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API</a:t>
            </a:r>
            <a:r>
              <a:rPr sz="1500">
                <a:solidFill>
                  <a:srgbClr val="556077"/>
                </a:solidFill>
                <a:latin typeface="Calibri"/>
              </a:rPr>
              <a:t>  create_artifact · append_artifact · list_artifacts · load_artifact · artifact_meta.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Версионирование через append</a:t>
            </a:r>
            <a:r>
              <a:rPr sz="1500">
                <a:solidFill>
                  <a:srgbClr val="556077"/>
                </a:solidFill>
                <a:latin typeface="Calibri"/>
              </a:rPr>
              <a:t>  поток правок копится без перезаписи.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Метаданные</a:t>
            </a:r>
            <a:r>
              <a:rPr sz="1500">
                <a:solidFill>
                  <a:srgbClr val="556077"/>
                </a:solidFill>
                <a:latin typeface="Calibri"/>
              </a:rPr>
              <a:t>  MIME, размер, owner-task — индексируются для UI и поиска.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Интеграция с workflows</a:t>
            </a:r>
            <a:r>
              <a:rPr sz="1500">
                <a:solidFill>
                  <a:srgbClr val="556077"/>
                </a:solidFill>
                <a:latin typeface="Calibri"/>
              </a:rPr>
              <a:t>  артефакты — нативный шаг DAG, доступны через embeds.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Демо-стейдж 4a</a:t>
            </a:r>
            <a:r>
              <a:rPr sz="1500">
                <a:solidFill>
                  <a:srgbClr val="556077"/>
                </a:solidFill>
                <a:latin typeface="Calibri"/>
              </a:rPr>
              <a:t>  create → append → list / load последовательность.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ВОЗМОЖНОСТЬ · ADR 0015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Dynamic embeds: подстановка вычисляемых значений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Синтаксис «type:expr | format» с двухфазным резолвом.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53492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4B2A"/>
                </a:solidFill>
                <a:latin typeface="Consolas"/>
              </a:rPr>
              <a:t>«var:…»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986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значение из workflow context / embed_variables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799" y="2331720"/>
            <a:ext cx="53492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19" y="251460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4B2A"/>
                </a:solidFill>
                <a:latin typeface="Consolas"/>
              </a:rPr>
              <a:t>«math:…»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9" y="28986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выражения через evalexpr 11.3 (числа, операции)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0439"/>
            <a:ext cx="53492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703319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4B2A"/>
                </a:solidFill>
                <a:latin typeface="Consolas"/>
              </a:rPr>
              <a:t>«uuid:…»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87367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генерация v4/v7 идентификаторов на лету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799" y="3520439"/>
            <a:ext cx="53492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19" y="3703319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4B2A"/>
                </a:solidFill>
                <a:latin typeface="Consolas"/>
              </a:rPr>
              <a:t>«datetime:…»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19" y="4087367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форматированный таймстемп с zone-aware форматтерами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49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7"/>
                </a:solidFill>
                <a:latin typeface="Calibri"/>
              </a:rPr>
              <a:t>Фаза 1 — до LLM (статика). Фаза 2 — после стрима (результаты вычислений / генераций).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ВОЗМОЖНОСТЬ · ADR 0017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Web UI: чат-клиент поверх A2A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Фронтенд</a:t>
            </a:r>
            <a:r>
              <a:rPr sz="1500">
                <a:solidFill>
                  <a:srgbClr val="556077"/>
                </a:solidFill>
                <a:latin typeface="Calibri"/>
              </a:rPr>
              <a:t>  React + TypeScript, Vite, Tailwind CSS.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Backend</a:t>
            </a:r>
            <a:r>
              <a:rPr sz="1500">
                <a:solidFill>
                  <a:srgbClr val="556077"/>
                </a:solidFill>
                <a:latin typeface="Calibri"/>
              </a:rPr>
              <a:t>  ork-webui crate — Axum-роутер + проекты/чаты в Postgres (миграция 008_webui_projects.sql).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A2A-стримы</a:t>
            </a:r>
            <a:r>
              <a:rPr sz="1500">
                <a:solidFill>
                  <a:srgbClr val="556077"/>
                </a:solidFill>
                <a:latin typeface="Calibri"/>
              </a:rPr>
              <a:t>  UI напрямую потребляет SSE из /a2a/agents/{id}/stream.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Артефакт-браузер</a:t>
            </a:r>
            <a:r>
              <a:rPr sz="1500">
                <a:solidFill>
                  <a:srgbClr val="556077"/>
                </a:solidFill>
                <a:latin typeface="Calibri"/>
              </a:rPr>
              <a:t>  просмотр и загрузка файлов из ork-storage.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Embed rendering</a:t>
            </a:r>
            <a:r>
              <a:rPr sz="1500">
                <a:solidFill>
                  <a:srgbClr val="556077"/>
                </a:solidFill>
                <a:latin typeface="Calibri"/>
              </a:rPr>
              <a:t>  клиент рендерит ответы агента с подставленными embeds.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— Деплой</a:t>
            </a:r>
            <a:r>
              <a:rPr sz="1500">
                <a:solidFill>
                  <a:srgbClr val="556077"/>
                </a:solidFill>
                <a:latin typeface="Calibri"/>
              </a:rPr>
              <a:t>  SPA встраивается в бинарник через include_dir 0.7.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DEMO · ОБЗОР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Демо: 15-минутный walkthrough на localhost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7"/>
                </a:solidFill>
                <a:latin typeface="Calibri"/>
              </a:rPr>
              <a:t>Каждая стадия — отдельный shell-скрипт; все ожидаемые выводы лежат в demo/expected/stage-N.txt.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345643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450592"/>
            <a:ext cx="475488" cy="47548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78024"/>
            <a:ext cx="4754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2404872"/>
            <a:ext cx="26334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4B2A"/>
                </a:solidFill>
                <a:latin typeface="Calibri"/>
              </a:rPr>
              <a:t>Bootstrap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660904"/>
            <a:ext cx="26334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docker compose, миграции, JWT, запуск ork-api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2331720"/>
            <a:ext cx="345643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450592"/>
            <a:ext cx="475488" cy="47548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478024"/>
            <a:ext cx="4754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2404872"/>
            <a:ext cx="26334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4B2A"/>
                </a:solidFill>
                <a:latin typeface="Calibri"/>
              </a:rPr>
              <a:t>ork standup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60904"/>
            <a:ext cx="26334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CLI + GitHub-адаптер, активити-сводка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9288" y="2331720"/>
            <a:ext cx="345643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0" y="2450592"/>
            <a:ext cx="475488" cy="47548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478024"/>
            <a:ext cx="4754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404872"/>
            <a:ext cx="26334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4B2A"/>
                </a:solidFill>
                <a:latin typeface="Calibri"/>
              </a:rPr>
              <a:t>Cards &amp; Gateways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660904"/>
            <a:ext cx="26334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agent-card.json, /a2a/agents, REST/webhook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182112"/>
            <a:ext cx="345643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6112" y="3300984"/>
            <a:ext cx="475488" cy="47548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328416"/>
            <a:ext cx="4754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3255264"/>
            <a:ext cx="26334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4B2A"/>
                </a:solidFill>
                <a:latin typeface="Calibri"/>
              </a:rPr>
              <a:t>SSE replay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3511296"/>
            <a:ext cx="26334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stream + reconnect через Redis-буфер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98264" y="3182112"/>
            <a:ext cx="345643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17136" y="3300984"/>
            <a:ext cx="475488" cy="47548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7136" y="3328416"/>
            <a:ext cx="4754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11496" y="3255264"/>
            <a:ext cx="26334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4B2A"/>
                </a:solidFill>
                <a:latin typeface="Calibri"/>
              </a:rPr>
              <a:t>Multi-step DAG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11496" y="3511296"/>
            <a:ext cx="26334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5 шагов: Planner → Research → Writer → Reviewer → Sum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19288" y="3182112"/>
            <a:ext cx="345643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38160" y="3300984"/>
            <a:ext cx="475488" cy="47548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3328416"/>
            <a:ext cx="4754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3255264"/>
            <a:ext cx="26334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4B2A"/>
                </a:solidFill>
                <a:latin typeface="Calibri"/>
              </a:rPr>
              <a:t>Artifacts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3511296"/>
            <a:ext cx="26334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create → append → list / load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032504"/>
            <a:ext cx="345643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4151376"/>
            <a:ext cx="475488" cy="47548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178808"/>
            <a:ext cx="4754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0472" y="4105656"/>
            <a:ext cx="26334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4B2A"/>
                </a:solidFill>
                <a:latin typeface="Calibri"/>
              </a:rPr>
              <a:t>MCP tool plane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0472" y="4361688"/>
            <a:ext cx="26334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boot npx server-everything, mcp:everything.echo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98264" y="4032504"/>
            <a:ext cx="345643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17136" y="4151376"/>
            <a:ext cx="475488" cy="47548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17136" y="4178808"/>
            <a:ext cx="4754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11496" y="4105656"/>
            <a:ext cx="26334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4B2A"/>
                </a:solidFill>
                <a:latin typeface="Calibri"/>
              </a:rPr>
              <a:t>Federation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11496" y="4361688"/>
            <a:ext cx="26334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удалённый пир (8090), JSON-RPC + SSE наружу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19288" y="4032504"/>
            <a:ext cx="345643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138160" y="4151376"/>
            <a:ext cx="475488" cy="47548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38160" y="4178808"/>
            <a:ext cx="4754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4105656"/>
            <a:ext cx="26334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4B2A"/>
                </a:solidFill>
                <a:latin typeface="Calibri"/>
              </a:rPr>
              <a:t>Push notifications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4361688"/>
            <a:ext cx="26334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webhook (8091), JWS, ротация ES256-ключей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" y="4882896"/>
            <a:ext cx="345643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96112" y="5001768"/>
            <a:ext cx="475488" cy="47548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2" y="5029200"/>
            <a:ext cx="4754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90472" y="4956048"/>
            <a:ext cx="26334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4B2A"/>
                </a:solidFill>
                <a:latin typeface="Calibri"/>
              </a:rPr>
              <a:t>LangGraph peer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90472" y="5212080"/>
            <a:ext cx="26334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Python A2A пир (8092), двусторонний обмен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98264" y="4882896"/>
            <a:ext cx="345643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517136" y="5001768"/>
            <a:ext cx="475488" cy="47548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17136" y="5029200"/>
            <a:ext cx="47548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11496" y="4956048"/>
            <a:ext cx="26334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4B2A"/>
                </a:solidFill>
                <a:latin typeface="Calibri"/>
              </a:rPr>
              <a:t>Teardown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11496" y="5212080"/>
            <a:ext cx="26334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процессы, docker compose down, очистка артефактов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Demo · стадии 0–3: bootstrap → cards → SSE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Stage 0 — Bootstrap</a:t>
            </a:r>
            <a:r>
              <a:rPr sz="1400">
                <a:solidFill>
                  <a:srgbClr val="556077"/>
                </a:solidFill>
                <a:latin typeface="Calibri"/>
              </a:rPr>
              <a:t>  docker compose поднимает Postgres + Redis. Применяются миграции (включая 008_webui_projects). Сидится тенант, выпускается JWT. Запускается ork-api.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Stage 1 — ork standup</a:t>
            </a:r>
            <a:r>
              <a:rPr sz="1400">
                <a:solidFill>
                  <a:srgbClr val="556077"/>
                </a:solidFill>
                <a:latin typeface="Calibri"/>
              </a:rPr>
              <a:t>  CLI ходит в GitHub через octocrab, отдаёт активити-сводку. Без LLM — проверяет сам каркас integrations/CLI.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Stage 2 — Cards &amp; Gateways</a:t>
            </a:r>
            <a:r>
              <a:rPr sz="1400">
                <a:solidFill>
                  <a:srgbClr val="556077"/>
                </a:solidFill>
                <a:latin typeface="Calibri"/>
              </a:rPr>
              <a:t>  GET /.well-known/agent-card.json — публичная карточка. GET /a2a/agents — защищённый список. Дёргаются REST и webhook gateway-маршруты.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Stage 3 — SSE replay</a:t>
            </a:r>
            <a:r>
              <a:rPr sz="1400">
                <a:solidFill>
                  <a:srgbClr val="556077"/>
                </a:solidFill>
                <a:latin typeface="Calibri"/>
              </a:rPr>
              <a:t>  JSON-RPC message/stream → дисконнект на середине. Reconnect через GET /a2a/agents/{id}/stream/{task_id} — подтверждает работу Redis replay-буфера.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Demo · стадии 4 и 4a: workflows и артефакты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Stage 4 — основной показ возможностей оркестратора.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F172A"/>
                </a:solidFill>
                <a:latin typeface="Calibri"/>
              </a:rPr>
              <a:t>— 5-step DAG: Planner → Research-loop → Writer → Reviewer → Synthesizer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0F172A"/>
                </a:solidFill>
                <a:latin typeface="Calibri"/>
              </a:rPr>
              <a:t>— for_each-итерации внутри research-loop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0F172A"/>
                </a:solidFill>
                <a:latin typeface="Calibri"/>
              </a:rPr>
              <a:t>— tool-calls на native code-tools и MCP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0F172A"/>
                </a:solidFill>
                <a:latin typeface="Calibri"/>
              </a:rPr>
              <a:t>— dynamic embeds (var, math, uuid, datetime) во входах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0F172A"/>
                </a:solidFill>
                <a:latin typeface="Calibri"/>
              </a:rPr>
              <a:t>— structured output capture между шагами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Stage 4a — артефакты как first-class объекты.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F172A"/>
                </a:solidFill>
                <a:latin typeface="Calibri"/>
              </a:rPr>
              <a:t>— 3-step artifact workflow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0F172A"/>
                </a:solidFill>
                <a:latin typeface="Calibri"/>
              </a:rPr>
              <a:t>— create_artifact → append_artifact → list_artifacts/load_artifact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0F172A"/>
                </a:solidFill>
                <a:latin typeface="Calibri"/>
              </a:rPr>
              <a:t>— проверяется S3-бэкенд (MinIO в локальном демо)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Demo · стадии 5–7: MCP, federation, push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Stage 5 — MCP tool plane</a:t>
            </a:r>
            <a:r>
              <a:rPr sz="1400">
                <a:solidFill>
                  <a:srgbClr val="556077"/>
                </a:solidFill>
                <a:latin typeface="Calibri"/>
              </a:rPr>
              <a:t>  Бутстрапится npx @modelcontextprotocol/server-everything как stdio-child. Round-trip mcp:everything.echo. Подтверждается, что MCP refresh-loop работает.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Stage 6 — Federation</a:t>
            </a:r>
            <a:r>
              <a:rPr sz="1400">
                <a:solidFill>
                  <a:srgbClr val="556077"/>
                </a:solidFill>
                <a:latin typeface="Calibri"/>
              </a:rPr>
              <a:t>  Стаб-пир на 8090 отдаёт фиксированный Task. Локальный 2-step workflow вызывает пира через JSON-RPC + SSE. Используется embed_variables.demo_label.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Stage 7 — Push notifications</a:t>
            </a:r>
            <a:r>
              <a:rPr sz="1400">
                <a:solidFill>
                  <a:srgbClr val="556077"/>
                </a:solidFill>
                <a:latin typeface="Calibri"/>
              </a:rPr>
              <a:t>  Webhook-receiver на 8091. Через tasks/pushNotificationConfig/set регистрируется адрес. Доставка JWS-payload, затем выполняется ротация ES256-ключей.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Demo · стадии 9 и 8: LangGraph и teardown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Stage 9 — LangGraph peer (Python)</a:t>
            </a:r>
            <a:r>
              <a:rPr sz="1400">
                <a:solidFill>
                  <a:srgbClr val="556077"/>
                </a:solidFill>
                <a:latin typeface="Calibri"/>
              </a:rPr>
              <a:t>  Python A2A-пир на 8092 принимает message/stream. Внутри своего графа дёргает обратно ork-researcher через JSON-RPC. Двусторонняя A2A — Rust ↔ Python — без модификаций ядра.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Stage 8 — Teardown</a:t>
            </a:r>
            <a:r>
              <a:rPr sz="1400">
                <a:solidFill>
                  <a:srgbClr val="556077"/>
                </a:solidFill>
                <a:latin typeface="Calibri"/>
              </a:rPr>
              <a:t>  Гасит все процессы, docker compose down, удаляет временные артефакты. Демо чистое и идемпотентное.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Эталоны</a:t>
            </a:r>
            <a:r>
              <a:rPr sz="1400">
                <a:solidFill>
                  <a:srgbClr val="556077"/>
                </a:solidFill>
                <a:latin typeface="Calibri"/>
              </a:rPr>
              <a:t>  Каждая стадия имеет файл demo/expected/stage-N.txt. Помогает ловить регрессии при сравнении.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DEMO · LANGGRAPH · ADR 0007 + 0008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LangGraph-пир: двусторонний A2A между Rust и Python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Python-агент, говорящий тот же snake_case A2A 1.0, что и ork-a2a — без a2a-sdk и переходных слоёв.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4B2A"/>
                </a:solidFill>
                <a:latin typeface="Calibri"/>
              </a:rPr>
              <a:t>Стек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6324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LangGraph (StateGraph + ToolNode), LangChain, ChatOpenAI на любой OpenAI-совместимый бэкенд (в демо — Minimax).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799" y="242316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19" y="260604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4B2A"/>
                </a:solidFill>
                <a:latin typeface="Calibri"/>
              </a:rPr>
              <a:t>Inbound wire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9" y="306324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GET /.well-known/agent-card.json · POST / (JSON-RPC message/send и message/stream) · SSE: голый TaskEvent JSON в каждой data: строке.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8912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7200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4B2A"/>
                </a:solidFill>
                <a:latin typeface="Calibri"/>
              </a:rPr>
              <a:t>Outbound wire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02920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Внутренний tool ask_ork → POST {ORK_BASE_URL}/a2a/agents/researcher с Authorization Bearer + X-Tenant-Id.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799" y="438912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19" y="457200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4B2A"/>
                </a:solidFill>
                <a:latin typeface="Calibri"/>
              </a:rPr>
              <a:t>Регистрация в 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19" y="502920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Прописан в demo/config/default.toml как remote agent «LangGraph Research Peer (ork demo)»; видим через GET /a2a/agents.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DEMO · LANGGRAPH ·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Stage 9: поток вызовов туда и обратно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77240" y="1691640"/>
            <a:ext cx="260604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ork-api (Rust)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691640"/>
            <a:ext cx="2606040" cy="50292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17830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LangGraph peer :8092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89720" y="1691640"/>
            <a:ext cx="260604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7830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ork researcher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80260.0" y="2194560"/>
            <a:ext cx="0.0" cy="374904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86500.0" y="2194560"/>
            <a:ext cx="0.0" cy="374904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92740.0" y="2194560"/>
            <a:ext cx="0.0" cy="374904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080260.0" y="2331720"/>
            <a:ext cx="4206240.0" cy="0"/>
          </a:xfrm>
          <a:prstGeom prst="line">
            <a:avLst/>
          </a:prstGeom>
          <a:ln w="22225">
            <a:solidFill>
              <a:srgbClr val="E64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17420" y="203911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1. POST message/stream  (workflow step via_langgraph)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7420" y="236829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6077"/>
                </a:solidFill>
                <a:latin typeface="Calibri"/>
              </a:rPr>
              <a:t>JSON-RPC + SSE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86500.0" y="3017520"/>
            <a:ext cx="548640.0" cy="0"/>
          </a:xfrm>
          <a:prstGeom prst="line">
            <a:avLst/>
          </a:prstGeom>
          <a:ln w="19050">
            <a:solidFill>
              <a:srgbClr val="E64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26580" y="28529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ReAct: LLM решает вызвать ask_ork(agent_id="researcher")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86500.0" y="3703320"/>
            <a:ext cx="4206240.0" cy="0"/>
          </a:xfrm>
          <a:prstGeom prst="line">
            <a:avLst/>
          </a:prstGeom>
          <a:ln w="22225">
            <a:solidFill>
              <a:srgbClr val="E64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23660" y="341071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3. POST /a2a/agents/researcher  (reverse leg)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3660" y="373989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6077"/>
                </a:solidFill>
                <a:latin typeface="Calibri"/>
              </a:rPr>
              <a:t>JSON-RPC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286500.0" y="4389120"/>
            <a:ext cx="4206240.0" cy="0"/>
          </a:xfrm>
          <a:prstGeom prst="line">
            <a:avLst/>
          </a:prstGeom>
          <a:ln w="22225">
            <a:solidFill>
              <a:srgbClr val="E64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23660" y="409651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4. ответ: code_search hits / file paths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3660" y="442569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6077"/>
                </a:solidFill>
                <a:latin typeface="Calibri"/>
              </a:rPr>
              <a:t>Task result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080260.0" y="5074920"/>
            <a:ext cx="4206240.0" cy="0"/>
          </a:xfrm>
          <a:prstGeom prst="line">
            <a:avLst/>
          </a:prstGeom>
          <a:ln w="22225">
            <a:solidFill>
              <a:srgbClr val="E64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217420" y="478231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5. финальный TaskEvent: один абзац-сводка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7420" y="511149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6077"/>
                </a:solidFill>
                <a:latin typeface="Calibri"/>
              </a:rPr>
              <a:t>SSE stream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7"/>
                </a:solidFill>
                <a:latin typeface="Calibri"/>
              </a:rPr>
              <a:t>Run переходит в completed; demo grep'ит /a2a/agents/researcher в ork-api.log как доказательство реверс-ноги.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DEMO · LANGGRAPH · 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Что доказывает LangGraph-демо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Open mesh, не Rust-only</a:t>
            </a:r>
            <a:r>
              <a:rPr sz="1400">
                <a:solidFill>
                  <a:srgbClr val="556077"/>
                </a:solidFill>
                <a:latin typeface="Calibri"/>
              </a:rPr>
              <a:t>  A2aRemoteAgent ходит в произвольного Python-пира без модификаций ядра и без переводных слоёв.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Реверс-нога работает</a:t>
            </a:r>
            <a:r>
              <a:rPr sz="1400">
                <a:solidFill>
                  <a:srgbClr val="556077"/>
                </a:solidFill>
                <a:latin typeface="Calibri"/>
              </a:rPr>
              <a:t>  Внешний агент использует ork:researcher как полноценный инструмент через ask_ork — ork выступает и клиентом, и сервером A2A.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Совместимость со snake_case A2A 1.0</a:t>
            </a:r>
            <a:r>
              <a:rPr sz="1400">
                <a:solidFill>
                  <a:srgbClr val="556077"/>
                </a:solidFill>
                <a:latin typeface="Calibri"/>
              </a:rPr>
              <a:t>  Python-пир сериализует тот же JSON shape, что и ork-a2a; CardFetcher и A2aRemoteAgent читают карточку как родную.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LLM-провайдер свободный (ADR 0012)</a:t>
            </a:r>
            <a:r>
              <a:rPr sz="1400">
                <a:solidFill>
                  <a:srgbClr val="556077"/>
                </a:solidFill>
                <a:latin typeface="Calibri"/>
              </a:rPr>
              <a:t>  LangGraph-пир жив на любом OpenAI-совместимом бэкенде; в демо это Minimax — прямое подтверждение мультипровайдерности.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Embeds сквозь федерацию (ADR 0015)</a:t>
            </a:r>
            <a:r>
              <a:rPr sz="1400">
                <a:solidFill>
                  <a:srgbClr val="556077"/>
                </a:solidFill>
                <a:latin typeface="Calibri"/>
              </a:rPr>
              <a:t>  embed_variables.demo_label передаётся в задачу удалённого агента и резолвится корректно.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Идемпотентный демо-flow</a:t>
            </a:r>
            <a:r>
              <a:rPr sz="1400">
                <a:solidFill>
                  <a:srgbClr val="556077"/>
                </a:solidFill>
                <a:latin typeface="Calibri"/>
              </a:rPr>
              <a:t>  Скрипт graceful-skip'ает stage 9, если нет MINIMAX_API_KEY или процесса на :8092 — не ломает teardown.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STATUS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Статус ADR: что уже зашито в код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691640"/>
            <a:ext cx="3611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3611880" cy="41148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Implemented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3154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0003 — A2A 1.0 protocol model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0004 — Hybrid Kong + Kafka transport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0013 — Generic Gateway abstraction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0015 — Dynamic embeds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91640"/>
            <a:ext cx="3611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691640"/>
            <a:ext cx="361188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3736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Accepted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286000"/>
            <a:ext cx="3154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0001 — ADR process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0002 — Agent port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0006 — Peer delegation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0007 — Remote A2A agent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0010 — MCP tool plane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0011 — Native LLM tool-calling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0012 — Multi-LLM provider catalog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0016 — Artifact storage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0017 — Web UI / chat 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691640"/>
            <a:ext cx="3611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691640"/>
            <a:ext cx="3611880" cy="411480"/>
          </a:xfrm>
          <a:prstGeom prst="rect">
            <a:avLst/>
          </a:prstGeom>
          <a:solidFill>
            <a:srgbClr val="556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737360"/>
            <a:ext cx="3611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Proposed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286000"/>
            <a:ext cx="3154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0005 — Agent Card discovery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0008 — A2A server endpoints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0009 — Push notifications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0018 — Workflow DAG executor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0019 — Scheduled tasks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0020 — Tenant security / trust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0021 — RBAC scopes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0022 — Observability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0023 — Migration &amp; rollout</a:t>
            </a:r>
          </a:p>
          <a:p>
            <a:pPr>
              <a:lnSpc>
                <a:spcPct val="130000"/>
              </a:lnSpc>
            </a:pPr>
            <a:r>
              <a:rPr sz="1150">
                <a:solidFill>
                  <a:srgbClr val="0F172A"/>
                </a:solidFill>
              </a:rPr>
              <a:t>0024 — WASM plugin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5720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4B2A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Что дальше: ADR в очереди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64240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69164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0018 — Workflow DAG executor</a:t>
            </a:r>
            <a:r>
              <a:rPr sz="1400">
                <a:solidFill>
                  <a:srgbClr val="556077"/>
                </a:solidFill>
                <a:latin typeface="Calibri"/>
              </a:rPr>
              <a:t>  обогащение модели исполнения, ретраи, контроль потока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0019 — Scheduled tasks</a:t>
            </a:r>
            <a:r>
              <a:rPr sz="1400">
                <a:solidFill>
                  <a:srgbClr val="556077"/>
                </a:solidFill>
                <a:latin typeface="Calibri"/>
              </a:rPr>
              <a:t>  cron-планировщик внутри платформы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0020 — Tenant security / A2A trust</a:t>
            </a:r>
            <a:r>
              <a:rPr sz="1400">
                <a:solidFill>
                  <a:srgbClr val="556077"/>
                </a:solidFill>
                <a:latin typeface="Calibri"/>
              </a:rPr>
              <a:t>  модель доверия между mesh-нодами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0021 — RBAC scopes</a:t>
            </a:r>
            <a:r>
              <a:rPr sz="1400">
                <a:solidFill>
                  <a:srgbClr val="556077"/>
                </a:solidFill>
                <a:latin typeface="Calibri"/>
              </a:rPr>
              <a:t>  права на агентов, инструменты и артефакты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0022 — Observability</a:t>
            </a:r>
            <a:r>
              <a:rPr sz="1400">
                <a:solidFill>
                  <a:srgbClr val="556077"/>
                </a:solidFill>
                <a:latin typeface="Calibri"/>
              </a:rPr>
              <a:t>  tracing, мониторы, task event log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0023 — Migration &amp; rollout</a:t>
            </a:r>
            <a:r>
              <a:rPr sz="1400">
                <a:solidFill>
                  <a:srgbClr val="556077"/>
                </a:solidFill>
                <a:latin typeface="Calibri"/>
              </a:rPr>
              <a:t>  план миграции с существующих платформ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— 0024 — WASM plugin system</a:t>
            </a:r>
            <a:r>
              <a:rPr sz="1400">
                <a:solidFill>
                  <a:srgbClr val="556077"/>
                </a:solidFill>
                <a:latin typeface="Calibri"/>
              </a:rPr>
              <a:t>  приходит на замену 0014; sandbox-расширения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77"/>
                </a:solidFill>
                <a:latin typeface="Calibri"/>
              </a:rPr>
              <a:t>ork — мульти-агентная оркестрация на 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7"/>
                </a:solidFill>
                <a:latin typeface="Calibri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E6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4B2A"/>
                </a:solidFill>
                <a:latin typeface="Calibri"/>
              </a:rPr>
              <a:t>ИТОГИ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772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Что ork умеет сегодня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500">
                <a:solidFill>
                  <a:srgbClr val="FFFFFF"/>
                </a:solidFill>
              </a:rPr>
              <a:t>·  Полный A2A-стек: cards · tasks · streaming · cancel · push.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FFFFFF"/>
                </a:solidFill>
              </a:rPr>
              <a:t>·  Гибридный транспорт: Kong/HTTP+SSE для sync, Kafka для async.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FFFFFF"/>
                </a:solidFill>
              </a:rPr>
              <a:t>·  Workflow engine с DAG, embed-резолвом, артефактами.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FFFFFF"/>
                </a:solidFill>
              </a:rPr>
              <a:t>·  Tool plane в трёх слоях: native + LLM-tools + MCP (rmcp 0.16).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FFFFFF"/>
                </a:solidFill>
              </a:rPr>
              <a:t>·  Мульти-LLM каталог в OpenAI-совместимом формате.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FFFFFF"/>
                </a:solidFill>
              </a:rPr>
              <a:t>·  Generic Gateways: REST, webhook, WebUI, MCP-as-gateway.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FFFFFF"/>
                </a:solidFill>
              </a:rPr>
              <a:t>·  Push-уведомления с ES256 JWS и envelope-шифрованием.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FFFFFF"/>
                </a:solidFill>
              </a:rPr>
              <a:t>·  Артефакты в S3/MinIO с версионируемым append-API.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FFFFFF"/>
                </a:solidFill>
              </a:rPr>
              <a:t>·  Federation: A2aRemoteAgent + Python-пир в demo (LangGraph).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FFFFFF"/>
                </a:solidFill>
              </a:rPr>
              <a:t>·  WebUI: React-чат-клиент поверх A2A-стримов.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1EA"/>
                </a:solidFill>
                <a:latin typeface="Calibri"/>
              </a:rPr>
              <a:t>Демо в demo/ — 11 стадий, ~15 минут, всё на localhost.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